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c9fc15-044c-073a-cba8-332e69eaf92a}">
          <p14:sldIdLst>
            <p14:sldId id="256"/>
          </p14:sldIdLst>
        </p14:section>
        <p14:section name="The problem" id="{1f0b4a6f-5d33-afc0-fed4-cc60106ed8d9}">
          <p14:sldIdLst>
            <p14:sldId id="257"/>
            <p14:sldId id="258"/>
          </p14:sldIdLst>
        </p14:section>
        <p14:section name="How it works" id="{44c52a07-134c-dc89-f19c-ec515fee14dc}">
          <p14:sldIdLst>
            <p14:sldId id="259"/>
            <p14:sldId id="260"/>
          </p14:sldIdLst>
        </p14:section>
        <p14:section name="The proof" id="{bdd0f05d-963d-c59e-5a05-c87154cd26ae}">
          <p14:sldIdLst>
            <p14:sldId id="261"/>
            <p14:sldId id="262"/>
            <p14:sldId id="263"/>
          </p14:sldIdLst>
        </p14:section>
        <p14:section name="Engineering" id="{efe5553b-90f0-38f5-a52c-4385e8cd2d12}">
          <p14:sldIdLst>
            <p14:sldId id="264"/>
            <p14:sldId id="265"/>
          </p14:sldIdLst>
        </p14:section>
        <p14:section name="Closing" id="{f9fdc13a-faeb-e1a5-ff32-865ef63ea3b8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Brier score — lower is better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Brier 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88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88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Pahunch</c:v>
                  </c:pt>
                  <c:pt idx="1">
                    <c:v>Uncalibrated point estimate</c:v>
                  </c:pt>
                  <c:pt idx="2">
                    <c:v>Always guess the base rate</c:v>
                  </c:pt>
                  <c:pt idx="3">
                    <c:v>Nameplate range figure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0.112</c:v>
                </c:pt>
                <c:pt idx="1">
                  <c:v>0.195</c:v>
                </c:pt>
                <c:pt idx="2">
                  <c:v>0.234</c:v>
                </c:pt>
                <c:pt idx="3">
                  <c:v>0.542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6EDF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</c:scaling>
        <c:delete val="0"/>
        <c:axPos val="b"/>
        <c:majorGridlines>
          <c:spPr>
            <a:ln w="12700" cap="flat">
              <a:solidFill>
                <a:srgbClr val="27313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7A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E14"/>
        </a:solidFill>
        <a:ln>
          <a:noFill/>
        </a:ln>
        <a:effectLst/>
      </c:spPr>
    </c:plotArea>
    <c:plotVisOnly val="1"/>
    <c:dispBlanksAs val="span"/>
  </c:chart>
  <c:spPr>
    <a:solidFill>
      <a:srgbClr val="0B0E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Pahunch answers the question a driver actually asks. The three figures at the bottom are the evidence, and every one of them is reproducible from the repo: npm run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MIDC cycle is run on a dynamometer: no AC, one occupant, no gradient, no traffic. It is repeatable, which is what it is for. It is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dial: the faint wide band behind the value arc is the confidence interval on the probability itself. The number is uncertain and the instrument says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split matters: physics answers 'how much energy given exactly these conditions'. Nobody knows those conditions. Layer 3 is what turns that into an honest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harness prints the full reliability diagram bin by bin, so you can see where it is weakest rather than trusting one summary statistic. It is a test, not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stop planner scores a candidate on P(reach it) x P(it works) x P(finish from there), which is why it routinely passes over the nearest charger.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showing the bugs deliberately. A prototype with no bug history either has not been exercised or is not telling you about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limitations slide is deliberate. We would rather a judge hear these from us than find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rgbClr val="38BDF8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03320"/>
            <a:ext cx="9326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61D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rgbClr val="F59E0B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10896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7A6"/>
                </a:solidFill>
              </a:rPr>
              <a:t>Pahunch · hackFront India 2026 · Problem Statement 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7A6"/>
                </a:solidFill>
              </a:rPr>
              <a:t>Pahunch · hackFront India 2026 · Problem Statement 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_IMAGE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17320"/>
            <a:ext cx="411480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>
            <p:ph idx="102" hasCustomPrompt="1"/>
          </p:nvPr>
        </p:nvSpPr>
        <p:spPr>
          <a:xfrm>
            <a:off x="5120640" y="1417320"/>
            <a:ext cx="640080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7A6"/>
                </a:solidFill>
              </a:rPr>
              <a:t>Pahunch · hackFront India 2026 · Problem Statement 01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</a:rPr>
              <a:t>hackFront India 2026 · Problem Statement 01 · General Track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Pahunch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0332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Tell an Indian driver the truth, with a confidence level attached.</a:t>
            </a:r>
            <a:endParaRPr lang="en-US" sz="20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8B97A6"/>
                </a:solidFill>
              </a:rPr>
              <a:t>An EV arrival engine that refuses to print a range figure, and proves the number it prints instead.</a:t>
            </a:r>
            <a:endParaRPr lang="en-US" sz="2000" dirty="0"/>
          </a:p>
        </p:txBody>
      </p:sp>
      <p:sp>
        <p:nvSpPr>
          <p:cNvPr id="5" name="card-1"/>
          <p:cNvSpPr/>
          <p:nvPr/>
        </p:nvSpPr>
        <p:spPr>
          <a:xfrm>
            <a:off x="685800" y="48463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50474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C55E"/>
                </a:solidFill>
              </a:rPr>
              <a:t>0.112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7790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Brier score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6089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vs 0.542 for the nameplate figure</a:t>
            </a:r>
            <a:endParaRPr lang="en-US" sz="1100" dirty="0"/>
          </a:p>
        </p:txBody>
      </p:sp>
      <p:sp>
        <p:nvSpPr>
          <p:cNvPr id="9" name="card-2"/>
          <p:cNvSpPr/>
          <p:nvPr/>
        </p:nvSpPr>
        <p:spPr>
          <a:xfrm>
            <a:off x="4389120" y="48463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50474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0.067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57790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Calibration error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6089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on 118 held-out trips</a:t>
            </a:r>
            <a:endParaRPr lang="en-US" sz="1100" dirty="0"/>
          </a:p>
        </p:txBody>
      </p:sp>
      <p:sp>
        <p:nvSpPr>
          <p:cNvPr id="13" name="card-3"/>
          <p:cNvSpPr/>
          <p:nvPr/>
        </p:nvSpPr>
        <p:spPr>
          <a:xfrm>
            <a:off x="8092440" y="484632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504748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117 km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57790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Longest charger gap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608990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Delhi → Shimla, found in Neo4j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number on the brochure was never a promise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6EDF3"/>
                </a:solidFill>
              </a:rPr>
              <a:t>A Tata Nexon EV 45 claims 465 km. Drive Delhi to Jaipur in May, four people, air conditioning on:</a:t>
            </a:r>
            <a:endParaRPr lang="en-US" sz="1700" dirty="0"/>
          </a:p>
        </p:txBody>
      </p:sp>
      <p:sp>
        <p:nvSpPr>
          <p:cNvPr id="4" name="card-4"/>
          <p:cNvSpPr/>
          <p:nvPr/>
        </p:nvSpPr>
        <p:spPr>
          <a:xfrm>
            <a:off x="685800" y="19659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671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90 Wh/km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the MIDC claim implies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9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465 km from a 41.9 kWh usable pack</a:t>
            </a:r>
            <a:endParaRPr lang="en-US" sz="1100" dirty="0"/>
          </a:p>
        </p:txBody>
      </p:sp>
      <p:sp>
        <p:nvSpPr>
          <p:cNvPr id="8" name="card-5"/>
          <p:cNvSpPr/>
          <p:nvPr/>
        </p:nvSpPr>
        <p:spPr>
          <a:xfrm>
            <a:off x="4389120" y="19659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1671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F4444"/>
                </a:solidFill>
              </a:rPr>
              <a:t>207 Wh/km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the trip actually costs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209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measured by this model, 42 °C, AC on</a:t>
            </a:r>
            <a:endParaRPr lang="en-US" sz="1100" dirty="0"/>
          </a:p>
        </p:txBody>
      </p:sp>
      <p:sp>
        <p:nvSpPr>
          <p:cNvPr id="12" name="card-6"/>
          <p:cNvSpPr/>
          <p:nvPr/>
        </p:nvSpPr>
        <p:spPr>
          <a:xfrm>
            <a:off x="8092440" y="1965960"/>
            <a:ext cx="342900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1671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2.3×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986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gap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2095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and nothing on the dashboard says so</a:t>
            </a:r>
            <a:endParaRPr lang="en-US" sz="1100" dirty="0"/>
          </a:p>
        </p:txBody>
      </p:sp>
      <p:sp>
        <p:nvSpPr>
          <p:cNvPr id="16" name="card-7"/>
          <p:cNvSpPr/>
          <p:nvPr/>
        </p:nvSpPr>
        <p:spPr>
          <a:xfrm>
            <a:off x="685800" y="4069080"/>
            <a:ext cx="10789920" cy="1828800"/>
          </a:xfrm>
          <a:prstGeom prst="roundRect">
            <a:avLst>
              <a:gd name="adj" fmla="val 5000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2793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</a:rPr>
              <a:t>Why the usual fix does not work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617720"/>
            <a:ext cx="1014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3"/>
                </a:solidFill>
              </a:rPr>
              <a:t>The industry response is a better number — a “real-world range” estimate. That is still the wrong shape of answer. Whether you make it depends on a forecast that could be wrong, traffic you cannot see yet, your own right foot, and whether the charger at Behror is working today. Those are distributions, not constants. A single number cannot carry them, however carefully it is tuned.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So it answers the question that was asked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173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Not “how far can I go” but “will I make it” — as a probability, with everything behind it on screen.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P(arrive above your own reserve)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A reserve is the driver's, not ours. Range anxiety, quantified and respected.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Arrival charge as a band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p10 / p50 / p90. The axis runs below zero on purpose: “you run out 30 km short” is information, and clipping it would hide that.</a:t>
            </a:r>
            <a:endParaRPr lang="en-US" sz="1500" dirty="0"/>
          </a:p>
          <a:p>
            <a:pPr algn="l" indent="0" marL="0"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The claim, alongside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Every verdict shows the certification figure next to what this trip really costs.</a:t>
            </a:r>
            <a:endParaRPr lang="en-US" sz="1500" dirty="0"/>
          </a:p>
        </p:txBody>
      </p:sp>
      <p:pic>
        <p:nvPicPr>
          <p:cNvPr id="4" name="Image 0" descr="D:/hackfront/submission/assets/shot-verdict.jp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5120640" y="1417320"/>
            <a:ext cx="6400800" cy="3621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51389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6"/>
                </a:solidFill>
              </a:rPr>
              <a:t>Live product, answering from Neo4j in 295 ms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2743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</a:rPr>
              <a:t>HOW IT WORKS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1089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Four layers, each doing one job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Physics · Calibration · Uncertainty · Graph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Four layers</a:t>
            </a:r>
            <a:endParaRPr lang="en-US" sz="3200" dirty="0"/>
          </a:p>
        </p:txBody>
      </p:sp>
      <p:sp>
        <p:nvSpPr>
          <p:cNvPr id="3" name="card-8"/>
          <p:cNvSpPr/>
          <p:nvPr/>
        </p:nvSpPr>
        <p:spPr>
          <a:xfrm>
            <a:off x="685800" y="1252728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tep-1"/>
          <p:cNvSpPr/>
          <p:nvPr/>
        </p:nvSpPr>
        <p:spPr>
          <a:xfrm>
            <a:off x="960120" y="1444752"/>
            <a:ext cx="475488" cy="47548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4813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E14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40817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Physics that knows it is in India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37360"/>
            <a:ext cx="9555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Rolling, aero, gradient, stop-go and accessory load, integrated per segment. Air density from the barometric formula; HVAC as a first-class load — a 3.2 kW compressor in traffic is ~178 Wh/km alone.</a:t>
            </a:r>
            <a:endParaRPr lang="en-US" sz="1400" dirty="0"/>
          </a:p>
        </p:txBody>
      </p:sp>
      <p:sp>
        <p:nvSpPr>
          <p:cNvPr id="8" name="card-9"/>
          <p:cNvSpPr/>
          <p:nvPr/>
        </p:nvSpPr>
        <p:spPr>
          <a:xfrm>
            <a:off x="685800" y="2441448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tep-2"/>
          <p:cNvSpPr/>
          <p:nvPr/>
        </p:nvSpPr>
        <p:spPr>
          <a:xfrm>
            <a:off x="960120" y="2633472"/>
            <a:ext cx="475488" cy="47548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67004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E14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9689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Calibration against logged trips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26080"/>
            <a:ext cx="9555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A physics model of a car is biased, per model, by everything it omits. Observed-to-predicted ratios are fitted in log space: the mean corrects the bias, the spread becomes measured model error.</a:t>
            </a:r>
            <a:endParaRPr lang="en-US" sz="1400" dirty="0"/>
          </a:p>
        </p:txBody>
      </p:sp>
      <p:sp>
        <p:nvSpPr>
          <p:cNvPr id="13" name="card-10"/>
          <p:cNvSpPr/>
          <p:nvPr/>
        </p:nvSpPr>
        <p:spPr>
          <a:xfrm>
            <a:off x="685800" y="3630168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tep-3"/>
          <p:cNvSpPr/>
          <p:nvPr/>
        </p:nvSpPr>
        <p:spPr>
          <a:xfrm>
            <a:off x="960120" y="382219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385876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E14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78561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Uncertainty, sampled not guessed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14800"/>
            <a:ext cx="9555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4 000 simulated trips per verdict over temperature, traffic, driver, wind, tyres, HVAC duty and model error. Every spread is justified where it is drawn — invented spreads make invented confidence.</a:t>
            </a:r>
            <a:endParaRPr lang="en-US" sz="1400" dirty="0"/>
          </a:p>
        </p:txBody>
      </p:sp>
      <p:sp>
        <p:nvSpPr>
          <p:cNvPr id="18" name="card-11"/>
          <p:cNvSpPr/>
          <p:nvPr/>
        </p:nvSpPr>
        <p:spPr>
          <a:xfrm>
            <a:off x="685800" y="4818888"/>
            <a:ext cx="10789920" cy="1097280"/>
          </a:xfrm>
          <a:prstGeom prst="roundRect">
            <a:avLst>
              <a:gd name="adj" fmla="val 8333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tep-4"/>
          <p:cNvSpPr/>
          <p:nvPr/>
        </p:nvSpPr>
        <p:spPr>
          <a:xfrm>
            <a:off x="960120" y="5010912"/>
            <a:ext cx="475488" cy="47548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504748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E14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4974336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 graph, because these are graph questions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303520"/>
            <a:ext cx="9555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Neo4j holds the road network: weighted path enumeration, bounded traversal for reachable chargers, charger coverage composed along a corridor. Runs with it and without, and says which answered.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Our percentage is checkable, and checked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</a:rPr>
              <a:t>The number is worth something only if it is calibrated — if the trips called 80% actually succeed about 80% of the time. One command checks it, on 118 trips the calibration layer never saw.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92024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-12"/>
          <p:cNvSpPr/>
          <p:nvPr/>
        </p:nvSpPr>
        <p:spPr>
          <a:xfrm>
            <a:off x="7726680" y="192024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212140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8BDF8"/>
                </a:solidFill>
              </a:rPr>
              <a:t>0.067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852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Expected calibration error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1638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below 0.08 means the stated confidence is usable</a:t>
            </a:r>
            <a:endParaRPr lang="en-US" sz="1100" dirty="0"/>
          </a:p>
        </p:txBody>
      </p:sp>
      <p:sp>
        <p:nvSpPr>
          <p:cNvPr id="9" name="card-13"/>
          <p:cNvSpPr/>
          <p:nvPr/>
        </p:nvSpPr>
        <p:spPr>
          <a:xfrm>
            <a:off x="7726680" y="379476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55280" y="3995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2C55E"/>
                </a:solidFill>
              </a:rPr>
              <a:t>0.520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955280" y="47274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Brier skill score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50383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vs knowing only how often trips succeed</a:t>
            </a:r>
            <a:endParaRPr lang="en-US" sz="1100" dirty="0"/>
          </a:p>
        </p:txBody>
      </p:sp>
      <p:sp>
        <p:nvSpPr>
          <p:cNvPr id="13" name="card-14"/>
          <p:cNvSpPr/>
          <p:nvPr/>
        </p:nvSpPr>
        <p:spPr>
          <a:xfrm>
            <a:off x="7726680" y="5669280"/>
            <a:ext cx="3749040" cy="658368"/>
          </a:xfrm>
          <a:prstGeom prst="roundRect">
            <a:avLst>
              <a:gd name="adj" fmla="val 13889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955280" y="5760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validate</a:t>
            </a:r>
            <a:endParaRPr lang="en-US" sz="14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7A6"/>
                </a:solidFill>
              </a:rPr>
              <a:t>asserts 5 criteria, exits non-zero on failure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The question that earns a graph database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173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Attempt one was elegant and useless.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“P(at least one charger on this corridor works)” = 1 − Π(1−r). With seven sites it reads 1.0000 for every route. A metric that cannot tell the Jaipur expressway from the Shimla ghat is decoration.</a:t>
            </a:r>
            <a:endParaRPr lang="en-US" sz="15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What a driver is actually exposed to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is not “is there a working charger on this road” but “how far must I go with no dependable option”. Cypher returns each waypoint with its distance and composed odds; the caller reduces that to the longest uncovered stretch.</a:t>
            </a:r>
            <a:endParaRPr lang="en-US" sz="15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Delhi → Shimla: 117 km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Every dependable site is on the plains. The entire ghat climb has nothing above 70% uptime.</a:t>
            </a:r>
            <a:endParaRPr lang="en-US" sz="1500" dirty="0"/>
          </a:p>
        </p:txBody>
      </p:sp>
      <p:pic>
        <p:nvPicPr>
          <p:cNvPr id="4" name="Image 0" descr="D:/hackfront/submission/assets/shot-profile.jp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5120640" y="1417320"/>
            <a:ext cx="6400800" cy="3621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513892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6"/>
                </a:solidFill>
              </a:rPr>
              <a:t>Charger reliability — the share of sessions that actually deliver charge — is the field no public map exposes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A probability you cannot act on is trivia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41732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</a:rPr>
              <a:t>What would change my mind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Every lever is a full re-simulation under a changed request, not a heuristic nudge — so it is consistent with the headline by construction. All 24 departure hours are scanned.</a:t>
            </a:r>
            <a:endParaRPr lang="en-US" sz="15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Where the doubt comes from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B97A6"/>
                </a:solidFill>
              </a:rPr>
              <a:t>Each uncertainty source pinned to its expected value, reporting how far the answer moves. It answers “what would I have to know to stop guessing”.</a:t>
            </a:r>
            <a:endParaRPr lang="en-US" sz="1500" dirty="0"/>
          </a:p>
          <a:p>
            <a:pPr algn="l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5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A result we did not design for</a:t>
            </a:r>
            <a:endParaRPr lang="en-US" sz="15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6EDF3"/>
                </a:solidFill>
              </a:rPr>
              <a:t>With the AC off, traffic uncertainty works in the driver's favour — slower is cheaper once the compressor is not running. The model found that on its own.</a:t>
            </a:r>
            <a:endParaRPr lang="en-US" sz="1500" dirty="0"/>
          </a:p>
        </p:txBody>
      </p:sp>
      <p:pic>
        <p:nvPicPr>
          <p:cNvPr id="4" name="Image 0" descr="D:/hackfront/submission/assets/shot-levers.jpg">    </p:cNvPr>
          <p:cNvPicPr>
            <a:picLocks noChangeAspect="1"/>
          </p:cNvPicPr>
          <p:nvPr>
            <p:ph idx="102" hasCustomPrompt="1"/>
          </p:nvPr>
        </p:nvPicPr>
        <p:blipFill>
          <a:blip r:embed="rId1"/>
          <a:stretch>
            <a:fillRect/>
          </a:stretch>
        </p:blipFill>
        <p:spPr>
          <a:xfrm>
            <a:off x="5120640" y="1417320"/>
            <a:ext cx="6400800" cy="3621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120640" y="51389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6"/>
                </a:solidFill>
              </a:rPr>
              <a:t>Levers, sensitivity, and the fallback charging plan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Five real bugs, four caught by our instruments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7A6"/>
                </a:solidFill>
              </a:rPr>
              <a:t>We built the validation harness, the tests and the fallback logging to catch our own mistakes. They did.</a:t>
            </a:r>
            <a:endParaRPr lang="en-US" sz="1500" dirty="0"/>
          </a:p>
        </p:txBody>
      </p:sp>
      <p:sp>
        <p:nvSpPr>
          <p:cNvPr id="4" name="card-15"/>
          <p:cNvSpPr/>
          <p:nvPr/>
        </p:nvSpPr>
        <p:spPr>
          <a:xfrm>
            <a:off x="685800" y="1783080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874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Double-counted uncertainty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76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A6"/>
                </a:solidFill>
              </a:rPr>
              <a:t>Caught by the validation harness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85623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Calibration measured residual spread with traffic and load at their means; the Monte Carlo then sampled them again. Probabilities collapsed toward 50% (ECE 0.099). Fixed with a variance decomposition over a shared sampler → 0.067.</a:t>
            </a:r>
            <a:endParaRPr lang="en-US" sz="1200" dirty="0"/>
          </a:p>
        </p:txBody>
      </p:sp>
      <p:sp>
        <p:nvSpPr>
          <p:cNvPr id="8" name="card-16"/>
          <p:cNvSpPr/>
          <p:nvPr/>
        </p:nvSpPr>
        <p:spPr>
          <a:xfrm>
            <a:off x="685800" y="2660904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60120" y="2752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Cold packs charged too fast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05409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A6"/>
                </a:solidFill>
              </a:rPr>
              <a:t>Caught by a unit test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3405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The temperature derate was applied to energy going in as well as to the rate limit, and the two cancelled.</a:t>
            </a:r>
            <a:endParaRPr lang="en-US" sz="1200" dirty="0"/>
          </a:p>
        </p:txBody>
      </p:sp>
      <p:sp>
        <p:nvSpPr>
          <p:cNvPr id="12" name="card-17"/>
          <p:cNvSpPr/>
          <p:nvPr/>
        </p:nvSpPr>
        <p:spPr>
          <a:xfrm>
            <a:off x="685800" y="3538728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60120" y="3630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Cypher hop bound of 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A6"/>
                </a:solidFill>
              </a:rPr>
              <a:t>Caught by review, then pinned by a test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361188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Delhi → Shimla is ten segments, so the query returned nothing and fell back silently. Now asserted in the seed script.</a:t>
            </a:r>
            <a:endParaRPr lang="en-US" sz="1200" dirty="0"/>
          </a:p>
        </p:txBody>
      </p:sp>
      <p:sp>
        <p:nvSpPr>
          <p:cNvPr id="16" name="card-18"/>
          <p:cNvSpPr/>
          <p:nvPr/>
        </p:nvSpPr>
        <p:spPr>
          <a:xfrm>
            <a:off x="685800" y="4416552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4507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Promise.all on one session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8097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A6"/>
                </a:solidFill>
              </a:rPr>
              <a:t>Caught by fallback logging we added on principle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4489704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A session holds one transaction, so three concurrent reads threw — and the app showed “bundled” with a seeded database right there.</a:t>
            </a:r>
            <a:endParaRPr lang="en-US" sz="1200" dirty="0"/>
          </a:p>
        </p:txBody>
      </p:sp>
      <p:sp>
        <p:nvSpPr>
          <p:cNvPr id="20" name="card-19"/>
          <p:cNvSpPr/>
          <p:nvPr/>
        </p:nvSpPr>
        <p:spPr>
          <a:xfrm>
            <a:off x="685800" y="5294376"/>
            <a:ext cx="10789920" cy="804672"/>
          </a:xfrm>
          <a:prstGeom prst="roundRect">
            <a:avLst>
              <a:gd name="adj" fmla="val 11364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5385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A stale verdict on screen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56875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97A6"/>
                </a:solidFill>
              </a:rPr>
              <a:t>Caught by opening it in a browser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53675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</a:rPr>
              <a:t>The form updated and the answer did not. The worst kind of bug: it looked like an answer to the question on screen.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What is real and what is not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7A6"/>
                </a:solidFill>
              </a:rPr>
              <a:t>A demo that overstates its data is worth less than one that does not. So, plainly:</a:t>
            </a:r>
            <a:endParaRPr lang="en-US" sz="1500" dirty="0"/>
          </a:p>
        </p:txBody>
      </p:sp>
      <p:sp>
        <p:nvSpPr>
          <p:cNvPr id="4" name="card-20"/>
          <p:cNvSpPr/>
          <p:nvPr/>
        </p:nvSpPr>
        <p:spPr>
          <a:xfrm>
            <a:off x="68580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41832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Real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physics, from first principles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calibration machinery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uncertainty sampling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Cypher and the graph model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validation harness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All of it runs unchanged against a production telematics feed</a:t>
            </a:r>
            <a:endParaRPr lang="en-US" sz="1250" dirty="0"/>
          </a:p>
        </p:txBody>
      </p:sp>
      <p:sp>
        <p:nvSpPr>
          <p:cNvPr id="7" name="card-21"/>
          <p:cNvSpPr/>
          <p:nvPr/>
        </p:nvSpPr>
        <p:spPr>
          <a:xfrm>
            <a:off x="438912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45152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Hand-built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45152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24 waypoints across the Delhi NCR corridors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NH48, Yamuna Expressway, NH44, the Shimla ghat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Real distances, elevations and charger operators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Traffic curves and reliability are plausible per road and operator class, not a licensed dataset</a:t>
            </a:r>
            <a:endParaRPr lang="en-US" sz="1250" dirty="0"/>
          </a:p>
        </p:txBody>
      </p:sp>
      <p:sp>
        <p:nvSpPr>
          <p:cNvPr id="10" name="card-22"/>
          <p:cNvSpPr/>
          <p:nvPr/>
        </p:nvSpPr>
        <p:spPr>
          <a:xfrm>
            <a:off x="809244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48472" y="1965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Synthetic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42316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420 fleet logs — and the file says so at length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Each vehicle carries a hidden efficiency offset the model cannot see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Logged conditions are degraded copies of the true ones</a:t>
            </a:r>
            <a:endParaRPr lang="en-US" sz="12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</a:rPr>
              <a:t>The harness checks we recover those offsets from degraded logs: mean error 0.022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38BDF8"/>
                </a:solidFill>
              </a:rPr>
              <a:t>If the logs were real, exactly one file would change.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Built to be used, and to be handed over</a:t>
            </a:r>
            <a:endParaRPr lang="en-US" sz="3200" dirty="0"/>
          </a:p>
        </p:txBody>
      </p:sp>
      <p:sp>
        <p:nvSpPr>
          <p:cNvPr id="3" name="card-23"/>
          <p:cNvSpPr/>
          <p:nvPr/>
        </p:nvSpPr>
        <p:spPr>
          <a:xfrm>
            <a:off x="685800" y="146304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6276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Sarvam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9659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Verdicts translated and spoken in 10 Indian languages, in modern-colloquial register. The driver who most needs an honest answer is not reading Wh/km in English.</a:t>
            </a:r>
            <a:endParaRPr lang="en-US" sz="1250" dirty="0"/>
          </a:p>
        </p:txBody>
      </p:sp>
      <p:sp>
        <p:nvSpPr>
          <p:cNvPr id="6" name="card-24"/>
          <p:cNvSpPr/>
          <p:nvPr/>
        </p:nvSpPr>
        <p:spPr>
          <a:xfrm>
            <a:off x="685800" y="2944368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3108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Runs anywhere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472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npm install &amp;&amp; npm run dev. No API key, no database, no map tile server required. Every visualisation is hand-rolled SVG, because venue wifi cannot reach a CDN.</a:t>
            </a:r>
            <a:endParaRPr lang="en-US" sz="1250" dirty="0"/>
          </a:p>
        </p:txBody>
      </p:sp>
      <p:sp>
        <p:nvSpPr>
          <p:cNvPr id="9" name="card-25"/>
          <p:cNvSpPr/>
          <p:nvPr/>
        </p:nvSpPr>
        <p:spPr>
          <a:xfrm>
            <a:off x="685800" y="4425696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4590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</a:rPr>
              <a:t>Degrades honestly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928616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</a:rPr>
              <a:t>Neo4j down, no Sarvam key, unseeded database — it keeps working and states which path answered and why. A silent downgrade is worse than a failure.</a:t>
            </a:r>
            <a:endParaRPr lang="en-US" sz="1250" dirty="0"/>
          </a:p>
        </p:txBody>
      </p:sp>
      <p:sp>
        <p:nvSpPr>
          <p:cNvPr id="12" name="card-26"/>
          <p:cNvSpPr/>
          <p:nvPr/>
        </p:nvSpPr>
        <p:spPr>
          <a:xfrm>
            <a:off x="6812280" y="1463040"/>
            <a:ext cx="4663440" cy="4133088"/>
          </a:xfrm>
          <a:prstGeom prst="roundRect">
            <a:avLst>
              <a:gd name="adj" fmla="val 2212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8660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Known limitations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7A6"/>
                </a:solidFill>
              </a:rPr>
              <a:t>Stated, not discovered later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3774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The stop planner evaluates one charging stop. A 24 kWh Tiago on Delhi → Agra at 18:00 needs two.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No live traffic or weather feed. Both layers are shaped to accept one.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Ambient stands in for pack temperature — wrong for the first twenty minutes.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Calibration cannot prove the physics right in absolute terms against synthetic logs. Real telematics is the first thing we would ask a partner for.</a:t>
            </a:r>
            <a:endParaRPr lang="en-US" sz="12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</a:rPr>
              <a:t>Scooter consumption looks ~20% optimistic, and we did not tune it toward the remembered figure.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874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38BDF8"/>
                </a:solidFill>
              </a:rPr>
              <a:t>PAHUNCH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Say it. Then defend it.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370332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Every range estimator prints a figure. Very few can tell you how often they are right.</a:t>
            </a:r>
            <a:endParaRPr lang="en-US" sz="20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8B97A6"/>
                </a:solidFill>
              </a:rPr>
              <a:t>This one can, on trips it has never seen, in one command.</a:t>
            </a:r>
            <a:endParaRPr lang="en-US" sz="2000" dirty="0"/>
          </a:p>
        </p:txBody>
      </p:sp>
      <p:sp>
        <p:nvSpPr>
          <p:cNvPr id="5" name="card-27"/>
          <p:cNvSpPr/>
          <p:nvPr/>
        </p:nvSpPr>
        <p:spPr>
          <a:xfrm>
            <a:off x="685800" y="5029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86968" y="5175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</a:rPr>
              <a:t>83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563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6"/>
                </a:solidFill>
              </a:rPr>
              <a:t>tests passing</a:t>
            </a:r>
            <a:endParaRPr lang="en-US" sz="1200" dirty="0"/>
          </a:p>
        </p:txBody>
      </p:sp>
      <p:sp>
        <p:nvSpPr>
          <p:cNvPr id="8" name="card-28"/>
          <p:cNvSpPr/>
          <p:nvPr/>
        </p:nvSpPr>
        <p:spPr>
          <a:xfrm>
            <a:off x="3447288" y="5029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48456" y="5175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78BFA"/>
                </a:solidFill>
              </a:rPr>
              <a:t>420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648456" y="563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6"/>
                </a:solidFill>
              </a:rPr>
              <a:t>fleet trips calibrated</a:t>
            </a:r>
            <a:endParaRPr lang="en-US" sz="1200" dirty="0"/>
          </a:p>
        </p:txBody>
      </p:sp>
      <p:sp>
        <p:nvSpPr>
          <p:cNvPr id="11" name="card-29"/>
          <p:cNvSpPr/>
          <p:nvPr/>
        </p:nvSpPr>
        <p:spPr>
          <a:xfrm>
            <a:off x="6208776" y="5029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9944" y="5175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4 000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563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6"/>
                </a:solidFill>
              </a:rPr>
              <a:t>simulations per verdict</a:t>
            </a:r>
            <a:endParaRPr lang="en-US" sz="1200" dirty="0"/>
          </a:p>
        </p:txBody>
      </p:sp>
      <p:sp>
        <p:nvSpPr>
          <p:cNvPr id="14" name="card-30"/>
          <p:cNvSpPr/>
          <p:nvPr/>
        </p:nvSpPr>
        <p:spPr>
          <a:xfrm>
            <a:off x="8970264" y="5029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61D27"/>
          </a:solidFill>
          <a:ln w="12700">
            <a:solidFill>
              <a:srgbClr val="27313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71432" y="5175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</a:rPr>
              <a:t>~300 ms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171432" y="563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7A6"/>
                </a:solidFill>
              </a:rPr>
              <a:t>to a full answer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hunch Ink">
  <a:themeElements>
    <a:clrScheme name="Pahunch Ink">
      <a:dk1>
        <a:srgbClr val="0B0E14"/>
      </a:dk1>
      <a:lt1>
        <a:srgbClr val="FFFFFF"/>
      </a:lt1>
      <a:dk2>
        <a:srgbClr val="1A212B"/>
      </a:dk2>
      <a:lt2>
        <a:srgbClr val="E6EDF3"/>
      </a:lt2>
      <a:accent1>
        <a:srgbClr val="38BDF8"/>
      </a:accent1>
      <a:accent2>
        <a:srgbClr val="F59E0B"/>
      </a:accent2>
      <a:accent3>
        <a:srgbClr val="22C55E"/>
      </a:accent3>
      <a:accent4>
        <a:srgbClr val="EF4444"/>
      </a:accent4>
      <a:accent5>
        <a:srgbClr val="A78BFA"/>
      </a:accent5>
      <a:accent6>
        <a:srgbClr val="7D8898"/>
      </a:accent6>
      <a:hlink>
        <a:srgbClr val="38BDF8"/>
      </a:hlink>
      <a:folHlink>
        <a:srgbClr val="A78BFA"/>
      </a:folHlink>
    </a:clrScheme>
    <a:fontScheme name="Pahunch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Pahunch — hackFront India 2026 prototype submission</dc:title>
  <dc:subject>Problem Statement 01, Will I Make It</dc:subject>
  <dc:creator>Pahunch</dc:creator>
  <cp:lastModifiedBy>Pahunch</cp:lastModifiedBy>
  <cp:revision>1</cp:revision>
  <dcterms:created xsi:type="dcterms:W3CDTF">2026-10-23T12:55:21Z</dcterms:created>
  <dcterms:modified xsi:type="dcterms:W3CDTF">2026-10-23T12:55:21Z</dcterms:modified>
</cp:coreProperties>
</file>